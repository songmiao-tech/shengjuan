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128016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SHENGJUAN · 课程演示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01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2095447"/>
            <a:ext cx="2926080" cy="7315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微软雅黑, Arial, sans-serif"/>
              </a:rPr>
              <a:t>把一段文字，变成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2933626"/>
            <a:ext cx="2926080" cy="7315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微软雅黑, Arial, sans-serif"/>
              </a:rPr>
              <a:t>一本能听的有声书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80" y="4119459"/>
            <a:ext cx="5349240" cy="2971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333333"/>
                </a:solidFill>
                <a:latin typeface="微软雅黑, Arial, sans-serif"/>
              </a:rPr>
              <a:t>它不是又一个 TTS 工具：普通合成整篇语气是平的，该紧张的地方不紧张。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4595697"/>
            <a:ext cx="2971800" cy="2971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333333"/>
                </a:solidFill>
                <a:latin typeface="微软雅黑, Arial, sans-serif"/>
              </a:rPr>
              <a:t>声卷要解决的，就是这股「没有人味」的劲。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429714" y="1257268"/>
            <a:ext cx="0" cy="4076598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1980" y="6057748"/>
            <a:ext cx="10058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声卷 · 5 分钟汇报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47625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02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1962100"/>
            <a:ext cx="1920240" cy="6400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000000"/>
                </a:solidFill>
                <a:latin typeface="微软雅黑, Arial, sans-serif"/>
              </a:rPr>
              <a:t>只做亲子家庭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1980" y="2971725"/>
            <a:ext cx="5714857" cy="236214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2971" y="3362240"/>
            <a:ext cx="8001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家长 · 白天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71" y="3867053"/>
            <a:ext cx="12344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花几分钟把公版童话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71" y="4267093"/>
            <a:ext cx="9601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做成专属有声书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05432" y="2971725"/>
            <a:ext cx="4724281" cy="236214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422" y="3362240"/>
            <a:ext cx="8001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63946"/>
                </a:solidFill>
                <a:latin typeface="微软雅黑, Arial, sans-serif"/>
              </a:rPr>
              <a:t>孩子 · 晚上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422" y="3867053"/>
            <a:ext cx="9601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打开手机就能听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422" y="4267093"/>
            <a:ext cx="9601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进度接着上一次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980" y="5714857"/>
            <a:ext cx="10667734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1980" y="6029174"/>
            <a:ext cx="32004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8A8A8A"/>
                </a:solidFill>
                <a:latin typeface="微软雅黑, Arial, sans-serif"/>
              </a:rPr>
              <a:t>规划时画过四类人群，后来全砍了 —— 贪多，每个都做不深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47625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03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1943051"/>
            <a:ext cx="356616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微软雅黑, Arial, sans-serif"/>
              </a:rPr>
              <a:t>没独显，所以全走云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2838379"/>
            <a:ext cx="685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本机没独显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62140" y="2933626"/>
            <a:ext cx="685783" cy="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3047923" y="2876478"/>
            <a:ext cx="114297" cy="114297"/>
          </a:xfrm>
          <a:custGeom>
            <a:avLst/>
            <a:gdLst/>
            <a:ahLst/>
            <a:cxnLst/>
            <a:rect l="l" t="t" r="r" b="b"/>
            <a:pathLst>
              <a:path w="114297" h="114297">
                <a:moveTo>
                  <a:pt x="0" y="0"/>
                </a:moveTo>
                <a:lnTo>
                  <a:pt x="114297" y="57148"/>
                </a:lnTo>
                <a:close/>
                <a:lnTo>
                  <a:pt x="0" y="114297"/>
                </a:lnTo>
                <a:close/>
              </a:path>
            </a:pathLst>
          </a:cu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2716" y="2795517"/>
            <a:ext cx="1371600" cy="3429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63946"/>
                </a:solidFill>
                <a:latin typeface="Arial, sans-serif"/>
              </a:rPr>
              <a:t>RTF 18.4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6678" y="2933626"/>
            <a:ext cx="685782" cy="0"/>
          </a:xfrm>
          <a:prstGeom prst="line">
            <a:avLst/>
          </a:prstGeom>
          <a:ln w="254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5562460" y="2876478"/>
            <a:ext cx="114298" cy="114297"/>
          </a:xfrm>
          <a:custGeom>
            <a:avLst/>
            <a:gdLst/>
            <a:ahLst/>
            <a:cxnLst/>
            <a:rect l="l" t="t" r="r" b="b"/>
            <a:pathLst>
              <a:path w="114298" h="114297">
                <a:moveTo>
                  <a:pt x="0" y="0"/>
                </a:moveTo>
                <a:lnTo>
                  <a:pt x="114298" y="57148"/>
                </a:lnTo>
                <a:close/>
                <a:lnTo>
                  <a:pt x="0" y="114297"/>
                </a:lnTo>
                <a:close/>
              </a:path>
            </a:pathLst>
          </a:cu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67253" y="2838379"/>
            <a:ext cx="1645919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一小时有声书要等十八小时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1980" y="3543211"/>
            <a:ext cx="10667734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1980" y="3886102"/>
            <a:ext cx="2495487" cy="205734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0575" y="4181370"/>
            <a:ext cx="47625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A8A"/>
                </a:solidFill>
                <a:latin typeface="Arial, sans-serif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575" y="4490925"/>
            <a:ext cx="138303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, sans-serif"/>
              </a:rPr>
              <a:t>GLM-4-Flash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" y="4938589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免费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575" y="5224331"/>
            <a:ext cx="102870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输出结构化 JSON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86062" y="3886102"/>
            <a:ext cx="2495487" cy="205734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4657" y="4181370"/>
            <a:ext cx="47625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A8A"/>
                </a:solidFill>
                <a:latin typeface="Arial, sans-serif"/>
              </a:rPr>
              <a:t>TTS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657" y="4490925"/>
            <a:ext cx="100584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微软雅黑, Arial, sans-serif"/>
              </a:rPr>
              <a:t>火山豆包 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657" y="4938589"/>
            <a:ext cx="72009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能听懂情绪指令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4657" y="5224331"/>
            <a:ext cx="822959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多角色、SSML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0144" y="3886102"/>
            <a:ext cx="2495487" cy="205734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181370"/>
            <a:ext cx="47625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A8A"/>
                </a:solidFill>
                <a:latin typeface="Arial, sans-serif"/>
              </a:rPr>
              <a:t>VOICE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8739" y="4490925"/>
            <a:ext cx="113157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, sans-serif"/>
              </a:rPr>
              <a:t>CosyVoice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739" y="4938589"/>
            <a:ext cx="61722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设计音色免费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8739" y="5224331"/>
            <a:ext cx="72009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豆包复刻做克隆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34226" y="3886102"/>
            <a:ext cx="2495487" cy="205734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62820" y="4181370"/>
            <a:ext cx="48006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8A8A"/>
                </a:solidFill>
                <a:latin typeface="Arial, sans-serif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820" y="4490925"/>
            <a:ext cx="1760219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微软雅黑, Arial, sans-serif"/>
              </a:rPr>
              <a:t>CloudBase + PG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820" y="4938589"/>
            <a:ext cx="5143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云托管容器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820" y="5224331"/>
            <a:ext cx="822959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微软雅黑, Arial, sans-serif"/>
              </a:rPr>
              <a:t>前端两页静态托管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96012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HIGHLIGHT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04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1943051"/>
            <a:ext cx="301752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微软雅黑, Arial, sans-serif"/>
              </a:rPr>
              <a:t>拖哪一段，只重算那一段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2838379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大模型把全文切段，每段打上情绪标签、强度和角色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80" y="3257468"/>
            <a:ext cx="15087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前端画成一条能拖的曲线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7333" y="2285942"/>
            <a:ext cx="0" cy="3047924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48323" y="4876678"/>
            <a:ext cx="4381391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48323" y="3657508"/>
            <a:ext cx="4381391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8323" y="2438339"/>
            <a:ext cx="4381391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715057" y="3752756"/>
            <a:ext cx="114297" cy="114297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38939" y="4038499"/>
            <a:ext cx="114297" cy="114297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86702" y="3371765"/>
            <a:ext cx="114297" cy="114297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10584" y="2705032"/>
            <a:ext cx="114297" cy="114297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5672" y="3028874"/>
            <a:ext cx="228594" cy="228594"/>
          </a:xfrm>
          <a:prstGeom prst="ellipse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1850" y="2157358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  <a:latin typeface="微软雅黑, Arial, sans-serif"/>
              </a:rPr>
              <a:t>拖这个点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19969" y="2400239"/>
            <a:ext cx="0" cy="552437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48323" y="5143371"/>
            <a:ext cx="47625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段落序号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980" y="4190895"/>
            <a:ext cx="5333867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1980" y="4619509"/>
            <a:ext cx="5715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8A8A8A"/>
                </a:solidFill>
                <a:latin typeface="微软雅黑, Arial, sans-serif"/>
              </a:rPr>
              <a:t>整篇重合成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80" y="4971925"/>
            <a:ext cx="1234440" cy="82295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8A8A8A"/>
                </a:solidFill>
                <a:latin typeface="Arial, sans-serif"/>
              </a:rPr>
              <a:t>30s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8914" y="4619509"/>
            <a:ext cx="5715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微软雅黑, Arial, sans-serif"/>
              </a:rPr>
              <a:t>增量重合成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8914" y="4971925"/>
            <a:ext cx="822959" cy="82295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E63946"/>
                </a:solidFill>
                <a:latin typeface="Arial, sans-serif"/>
              </a:rPr>
              <a:t>1s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96012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HIGHLIGHT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05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1943051"/>
            <a:ext cx="27432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微软雅黑, Arial, sans-serif"/>
              </a:rPr>
              <a:t>设计成本，压到接近零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2838379"/>
            <a:ext cx="27432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原本走 MiniMax，一个音色二十多块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980" y="3276518"/>
            <a:ext cx="8381790" cy="38099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6167" y="3371765"/>
            <a:ext cx="685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33333"/>
                </a:solidFill>
                <a:latin typeface="Arial, sans-serif"/>
              </a:rPr>
              <a:t>20+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80" y="4133746"/>
            <a:ext cx="3291839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, Arial, sans-serif"/>
              </a:rPr>
              <a:t>换成 CosyVoice 创建免费，再加设计缓存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980" y="4571885"/>
            <a:ext cx="914377" cy="38099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6853" y="4667133"/>
            <a:ext cx="47625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63946"/>
                </a:solidFill>
                <a:latin typeface="Arial, sans-serif"/>
              </a:rPr>
              <a:t>≈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508" y="4695707"/>
            <a:ext cx="18288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8A8A8A"/>
                </a:solidFill>
                <a:latin typeface="微软雅黑, Arial, sans-serif"/>
              </a:rPr>
              <a:t>同描述第二次直接复用，不重复扣费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1980" y="5486262"/>
            <a:ext cx="10667734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1980" y="5810104"/>
            <a:ext cx="685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微软雅黑, Arial, sans-serif"/>
              </a:rPr>
              <a:t>音色三合一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9329" y="5824391"/>
            <a:ext cx="125730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微软雅黑, Arial, sans-serif"/>
              </a:rPr>
              <a:t>五秒录音克隆本人声音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9649" y="5824391"/>
            <a:ext cx="100584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微软雅黑, Arial, sans-serif"/>
              </a:rPr>
              <a:t>一句话设计新音色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780" y="5824391"/>
            <a:ext cx="50292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微软雅黑, Arial, sans-serif"/>
              </a:rPr>
              <a:t>八种方言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96012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HIGHLIGHT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06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1971625"/>
            <a:ext cx="4023360" cy="5029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00000"/>
                </a:solidFill>
                <a:latin typeface="微软雅黑, Arial, sans-serif"/>
              </a:rPr>
              <a:t>工作台做的书，睡前故事页立刻能听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2662170"/>
            <a:ext cx="2514600" cy="2514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3333"/>
                </a:solidFill>
                <a:latin typeface="微软雅黑, Arial, sans-serif"/>
              </a:rPr>
              <a:t>进度跨设备同步 · 音频一键下载 MP3</a:t>
            </a:r>
          </a:p>
        </p:txBody>
      </p:sp>
      <p:sp>
        <p:nvSpPr>
          <p:cNvPr id="8" name="Rectangle 7"/>
          <p:cNvSpPr/>
          <p:nvPr/>
        </p:nvSpPr>
        <p:spPr>
          <a:xfrm>
            <a:off x="761980" y="3352716"/>
            <a:ext cx="3124121" cy="205734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773" y="3743231"/>
            <a:ext cx="11430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格林童话 · 小红帽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73" y="4214707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8A8A8A"/>
                </a:solidFill>
                <a:latin typeface="Arial, sans-serif"/>
              </a:rPr>
              <a:t>⤓ 下载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73" y="4686182"/>
            <a:ext cx="47625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点了才开始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697" y="3733706"/>
            <a:ext cx="2362140" cy="167635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9489" y="4048023"/>
            <a:ext cx="47625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伊索寓言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9489" y="4519499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Arial, sans-serif"/>
              </a:rPr>
              <a:t>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9489" y="4914777"/>
            <a:ext cx="1645919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按 Content-Length 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5432" y="3200319"/>
            <a:ext cx="1676358" cy="2209744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0224" y="3590835"/>
            <a:ext cx="47625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西游记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24" y="4062310"/>
            <a:ext cx="5143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  <a:latin typeface="Arial, sans-serif"/>
              </a:rPr>
              <a:t>✓ 已下载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24" y="4800479"/>
            <a:ext cx="47625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两秒后回弹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80" y="5876778"/>
            <a:ext cx="19431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8A8A8A"/>
                </a:solidFill>
                <a:latin typeface="微软雅黑, Arial, sans-serif"/>
              </a:rPr>
              <a:t>按钮状态机：⤓ → 百分比 →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91375" y="2514537"/>
            <a:ext cx="1676358" cy="3352716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91435" y="2728844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  <a:latin typeface="微软雅黑, Arial, sans-serif"/>
              </a:rPr>
              <a:t>手机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91375" y="5257668"/>
            <a:ext cx="1676358" cy="609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084" y="5505312"/>
            <a:ext cx="822959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微软雅黑, Arial, sans-serif"/>
              </a:rPr>
              <a:t>safe-area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375" y="6133946"/>
            <a:ext cx="10058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播放栏被手势条切掉一半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375" y="6400639"/>
            <a:ext cx="7315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真机截图才发现的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814367"/>
            <a:ext cx="128016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Arial, sans-serif"/>
              </a:rPr>
              <a:t>AI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07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980" y="1581110"/>
            <a:ext cx="3200400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0000"/>
                </a:solidFill>
                <a:latin typeface="微软雅黑, Arial, sans-serif"/>
              </a:rPr>
              <a:t>AI 干两件事，我挑出三个错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2257368"/>
            <a:ext cx="9144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AI 只干两件事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80" y="2633596"/>
            <a:ext cx="72009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微软雅黑, Arial, sans-serif"/>
              </a:rPr>
              <a:t>01 情感分析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2926483"/>
            <a:ext cx="2720339" cy="19431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微软雅黑, Arial, sans-serif"/>
              </a:rPr>
              <a:t>读全文输出分段 / 情绪 / 强度 / 重音词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80" y="3319379"/>
            <a:ext cx="92583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微软雅黑, Arial, sans-serif"/>
              </a:rPr>
              <a:t>02 智能音色生成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80" y="3612265"/>
            <a:ext cx="1457325" cy="19431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微软雅黑, Arial, sans-serif"/>
              </a:rPr>
              <a:t>一句话扩写成配音导演式音色描述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1980" y="4038499"/>
            <a:ext cx="4952877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1980" y="4276618"/>
            <a:ext cx="8001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我挑出的三个错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80" y="4648083"/>
            <a:ext cx="26517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微软雅黑, Arial, sans-serif"/>
              </a:rPr>
              <a:t>01 JSON 不合法：带引号对话塞进字符串，十次炸两三次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80" y="4914777"/>
            <a:ext cx="25603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三层防御：强约束 / 整批重试 / 绕开 JSON 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980" y="5257668"/>
            <a:ext cx="274320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微软雅黑, Arial, sans-serif"/>
              </a:rPr>
              <a:t>02 数字算错十倍：它回「四毛钱一万字」，实际 4.32 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980" y="5600559"/>
            <a:ext cx="21945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微软雅黑, Arial, sans-serif"/>
              </a:rPr>
              <a:t>03 误判接口：说是账号问题，实为音色系别不匹配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980" y="6181570"/>
            <a:ext cx="17145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63946"/>
                </a:solidFill>
                <a:latin typeface="微软雅黑, Arial, sans-serif"/>
              </a:rPr>
              <a:t>AI 的输出我当草稿，不当答案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6553036"/>
            <a:ext cx="1737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8A8A8A"/>
                </a:solidFill>
                <a:latin typeface="微软雅黑, Arial, sans-serif"/>
              </a:rPr>
              <a:t>三轮改进点，没有一个是 AI 主动提的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5847" y="2209744"/>
            <a:ext cx="0" cy="441949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76838" y="2257368"/>
            <a:ext cx="47625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微软雅黑, Arial, sans-serif"/>
              </a:rPr>
              <a:t>边界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6838" y="2590735"/>
            <a:ext cx="4952876" cy="609584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432" y="2743131"/>
            <a:ext cx="47625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微软雅黑, Arial, sans-serif"/>
              </a:rPr>
              <a:t>可交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432" y="2990775"/>
            <a:ext cx="19202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微软雅黑, Arial, sans-serif"/>
              </a:rPr>
              <a:t>结构化标注、文案扩写 —— 错了容易看出来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6838" y="3314617"/>
            <a:ext cx="4952876" cy="60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432" y="3467013"/>
            <a:ext cx="47625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微软雅黑, Arial, sans-serif"/>
              </a:rPr>
              <a:t>必须人工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432" y="3714657"/>
            <a:ext cx="12801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微软雅黑, Arial, sans-serif"/>
              </a:rPr>
              <a:t>成本数字、接口契约、最终听感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6838" y="4152796"/>
            <a:ext cx="19202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微软雅黑, Arial, sans-serif"/>
              </a:rPr>
              <a:t>硬线：故事正文禁止 AI 写，全用公版原文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76838" y="4533786"/>
            <a:ext cx="4952876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76838" y="4671895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微软雅黑, Arial, sans-serif"/>
              </a:rPr>
              <a:t>四步闭环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6838" y="4952876"/>
            <a:ext cx="1123921" cy="495287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00679" y="5036217"/>
            <a:ext cx="476250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000000"/>
                </a:solidFill>
                <a:latin typeface="微软雅黑, Arial, sans-serif"/>
              </a:rPr>
              <a:t>我拆需求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00679" y="5241000"/>
            <a:ext cx="476250" cy="14859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8A8A8A"/>
                </a:solidFill>
                <a:latin typeface="微软雅黑, Arial, sans-serif"/>
              </a:rPr>
              <a:t>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53156" y="4952876"/>
            <a:ext cx="1123921" cy="4952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7948" y="5036217"/>
            <a:ext cx="514350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微软雅黑, Arial, sans-serif"/>
              </a:rPr>
              <a:t>AI 出代码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6998" y="5241000"/>
            <a:ext cx="476250" cy="14859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BDBDBD"/>
                </a:solidFill>
                <a:latin typeface="微软雅黑, Arial, sans-serif"/>
              </a:rPr>
              <a:t>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9474" y="4952876"/>
            <a:ext cx="1123921" cy="495287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316" y="5036217"/>
            <a:ext cx="476250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000000"/>
                </a:solidFill>
                <a:latin typeface="微软雅黑, Arial, sans-serif"/>
              </a:rPr>
              <a:t>我评审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316" y="5241000"/>
            <a:ext cx="476250" cy="14859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8A8A8A"/>
                </a:solidFill>
                <a:latin typeface="微软雅黑, Arial, sans-serif"/>
              </a:rPr>
              <a:t>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05792" y="4952876"/>
            <a:ext cx="1123921" cy="495287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29634" y="5036217"/>
            <a:ext cx="476250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000000"/>
                </a:solidFill>
                <a:latin typeface="微软雅黑, Arial, sans-serif"/>
              </a:rPr>
              <a:t>再迭代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29634" y="5241000"/>
            <a:ext cx="476250" cy="14859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8A8A8A"/>
                </a:solidFill>
                <a:latin typeface="微软雅黑, Arial, sans-serif"/>
              </a:rPr>
              <a:t>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6838" y="5600559"/>
            <a:ext cx="26517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微软雅黑, Arial, sans-serif"/>
              </a:rPr>
              <a:t>每版必须实测：十六条 Playwright 断言全绿才敢发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6838" y="5929164"/>
            <a:ext cx="476250" cy="205739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微软雅黑, Arial, sans-serif"/>
              </a:rPr>
              <a:t>迭代三轮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6838" y="6236337"/>
            <a:ext cx="1114425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微软雅黑, Arial, sans-serif"/>
              </a:rPr>
              <a:t>01 跑通链路，能用但粗糙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6838" y="6464932"/>
            <a:ext cx="1628775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微软雅黑, Arial, sans-serif"/>
              </a:rPr>
              <a:t>02 补移动端与下载（真机截图才发现）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6838" y="6693526"/>
            <a:ext cx="1457325" cy="17145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微软雅黑, Arial, sans-serif"/>
              </a:rPr>
              <a:t>03 成本治理：换免费通道、上缓存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69658" y="814367"/>
            <a:ext cx="560070" cy="1600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0" i="0">
                <a:solidFill>
                  <a:srgbClr val="8A8A8A"/>
                </a:solidFill>
                <a:latin typeface="Arial, sans-serif"/>
              </a:rPr>
              <a:t>08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1980" y="1257268"/>
            <a:ext cx="533386" cy="571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1980" y="2457388"/>
            <a:ext cx="4800600" cy="6400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000000"/>
                </a:solidFill>
                <a:latin typeface="微软雅黑, Arial, sans-serif"/>
              </a:rPr>
              <a:t>判断对错，AI 完整地留给了我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1980" y="3457488"/>
            <a:ext cx="192024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33333"/>
                </a:solidFill>
                <a:latin typeface="微软雅黑, Arial, sans-serif"/>
              </a:rPr>
              <a:t>它把写代码的时间省下来了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80" y="4143271"/>
            <a:ext cx="256032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E63946"/>
                </a:solidFill>
                <a:latin typeface="微软雅黑, Arial, sans-serif"/>
              </a:rPr>
              <a:t>而后者，才是这个项目真正的工程量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1980" y="4952876"/>
            <a:ext cx="10667734" cy="0"/>
          </a:xfrm>
          <a:prstGeom prst="line">
            <a:avLst/>
          </a:prstGeom>
          <a:ln w="12700">
            <a:solidFill>
              <a:srgbClr val="E5E5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1980" y="5343391"/>
            <a:ext cx="2514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8A8A8A"/>
                </a:solidFill>
                <a:latin typeface="微软雅黑, Arial, sans-serif"/>
              </a:rPr>
              <a:t>声卷 · 有声读物工作台 + 睡前故事播放器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80" y="5724381"/>
            <a:ext cx="37719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8A8A8A"/>
                </a:solidFill>
                <a:latin typeface="微软雅黑, Arial, sans-serif"/>
              </a:rPr>
              <a:t>CloudBase 云托管 + PG · 全云 API，本地零部署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
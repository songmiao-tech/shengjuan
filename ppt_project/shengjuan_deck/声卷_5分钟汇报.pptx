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149" y="1600159"/>
            <a:ext cx="76198" cy="2724081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76338" y="1759699"/>
            <a:ext cx="8572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课程项目答辩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1090" y="2171645"/>
            <a:ext cx="1828800" cy="10972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6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声卷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338" y="3336047"/>
            <a:ext cx="7181850" cy="3314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把一段文字，变成一本能听、有情绪、有角色声音的有声书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6338" y="3857528"/>
            <a:ext cx="1809704" cy="38099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6338" y="4231375"/>
            <a:ext cx="6570821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不是又一个 TTS 工具。普通合成整篇语气是平的，该紧张的地方不紧张——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338" y="4574266"/>
            <a:ext cx="4000500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声卷要解决的，就是这股「</a:t>
            </a:r>
            <a:r>
              <a:rPr sz="21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没有人味</a:t>
            </a:r>
            <a:r>
              <a:rPr sz="21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」的劲。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2420" y="6083941"/>
            <a:ext cx="1250156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声卷 · 5 分钟汇报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22490" y="616728"/>
            <a:ext cx="550068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78827D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149" y="802461"/>
            <a:ext cx="4581525" cy="4229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目标用户收得很窄：亲子家庭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149" y="1314417"/>
            <a:ext cx="1019149" cy="38099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149" y="1759699"/>
            <a:ext cx="950118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家长 · 生产者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49" y="2190695"/>
            <a:ext cx="16002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白天花几分钟，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49" y="2590735"/>
            <a:ext cx="16002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把公版童话做成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49" y="2990775"/>
            <a:ext cx="1143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专属有声书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" y="1866853"/>
            <a:ext cx="0" cy="1943051"/>
          </a:xfrm>
          <a:prstGeom prst="line">
            <a:avLst/>
          </a:prstGeom>
          <a:ln w="12700">
            <a:solidFill>
              <a:srgbClr val="C8D2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00659" y="1759699"/>
            <a:ext cx="950118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孩子 · 消费者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659" y="2190695"/>
            <a:ext cx="16002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晚上打开手机，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659" y="2590735"/>
            <a:ext cx="16002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就能听爸爸妈妈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659" y="2990775"/>
            <a:ext cx="9144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做的故事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9149" y="3809904"/>
            <a:ext cx="10153396" cy="0"/>
          </a:xfrm>
          <a:prstGeom prst="line">
            <a:avLst/>
          </a:prstGeom>
          <a:ln w="12700">
            <a:solidFill>
              <a:srgbClr val="C8D2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19149" y="4095647"/>
            <a:ext cx="10153396" cy="666733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76338" y="4374246"/>
            <a:ext cx="4226242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规划时画过四类人群，后来全砍了——</a:t>
            </a:r>
            <a:r>
              <a:rPr sz="17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贪多，每个都做不深</a:t>
            </a:r>
            <a:r>
              <a:rPr sz="17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22490" y="616728"/>
            <a:ext cx="550068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78827D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149" y="802461"/>
            <a:ext cx="4229100" cy="4229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技术路线是被硬件逼出来的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149" y="1314417"/>
            <a:ext cx="1019149" cy="38099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9149" y="1676358"/>
            <a:ext cx="4733806" cy="3333666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76338" y="2026393"/>
            <a:ext cx="1378743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硬约束 · 本机无独显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6338" y="2590735"/>
            <a:ext cx="2682239" cy="7315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63946"/>
                </a:solidFill>
                <a:latin typeface="Arial"/>
                <a:ea typeface="Arial"/>
                <a:cs typeface="Arial"/>
              </a:rPr>
              <a:t>RTF 18.4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338" y="3521780"/>
            <a:ext cx="1402556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本地 TTS 实测：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338" y="3886102"/>
            <a:ext cx="29718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一小时有声书，要等十八小时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338" y="4507593"/>
            <a:ext cx="2639377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→ 全走云 API，本地只做前端和编排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659" y="2026393"/>
            <a:ext cx="2071687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选型 · 四个外部 API + 云托管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659" y="2469294"/>
            <a:ext cx="3797141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情感分析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GLM-4-Flash — 免费，输出结构化 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00659" y="2857428"/>
            <a:ext cx="4571886" cy="0"/>
          </a:xfrm>
          <a:prstGeom prst="line">
            <a:avLst/>
          </a:prstGeom>
          <a:ln w="12700">
            <a:solidFill>
              <a:srgbClr val="D2DA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00659" y="3193176"/>
            <a:ext cx="3214211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语音合成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火山豆包 2.0 — 能听懂情绪指令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00659" y="3581310"/>
            <a:ext cx="4571886" cy="0"/>
          </a:xfrm>
          <a:prstGeom prst="line">
            <a:avLst/>
          </a:prstGeom>
          <a:ln w="12700">
            <a:solidFill>
              <a:srgbClr val="D2DA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00659" y="3917058"/>
            <a:ext cx="2938938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音色设计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阿里 CosyVoice — 创建免费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00659" y="4305192"/>
            <a:ext cx="4571886" cy="0"/>
          </a:xfrm>
          <a:prstGeom prst="line">
            <a:avLst/>
          </a:prstGeom>
          <a:ln w="12700">
            <a:solidFill>
              <a:srgbClr val="D2DA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00659" y="4640940"/>
            <a:ext cx="3019901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后端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CloudBase 云托管 +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22490" y="616728"/>
            <a:ext cx="550068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78827D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149" y="802461"/>
            <a:ext cx="7277576" cy="4229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亮点一 · 情绪曲线编辑器：拖一下，一秒出声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149" y="1314417"/>
            <a:ext cx="1019149" cy="38099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149" y="1759699"/>
            <a:ext cx="71437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怎么做到的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9149" y="2171645"/>
            <a:ext cx="3143171" cy="990575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6793" y="2397858"/>
            <a:ext cx="561022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① 切段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793" y="2755037"/>
            <a:ext cx="161925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大模型把全文切成段落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7568" y="2666933"/>
            <a:ext cx="476238" cy="0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7133" y="2609784"/>
            <a:ext cx="66673" cy="57149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667133" y="2666933"/>
            <a:ext cx="66673" cy="57148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29054" y="2171645"/>
            <a:ext cx="3143171" cy="990575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6698" y="2397858"/>
            <a:ext cx="741997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② 打标签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6698" y="2755037"/>
            <a:ext cx="194310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每段标注情绪、强度、角色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67473" y="2666933"/>
            <a:ext cx="476238" cy="0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77038" y="2609784"/>
            <a:ext cx="66673" cy="57149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477038" y="2666933"/>
            <a:ext cx="66673" cy="57148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638959" y="2171645"/>
            <a:ext cx="2533586" cy="990575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6602" y="2397858"/>
            <a:ext cx="741997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③ 画曲线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6602" y="2755037"/>
            <a:ext cx="194310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前端渲染成一条能拖的曲线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9149" y="3467013"/>
            <a:ext cx="10153396" cy="0"/>
          </a:xfrm>
          <a:prstGeom prst="line">
            <a:avLst/>
          </a:prstGeom>
          <a:ln w="12700">
            <a:solidFill>
              <a:srgbClr val="C8D2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19149" y="3702751"/>
            <a:ext cx="71437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真正的难点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9149" y="4095647"/>
            <a:ext cx="4733806" cy="1619209"/>
          </a:xfrm>
          <a:prstGeom prst="rect">
            <a:avLst/>
          </a:prstGeom>
          <a:solidFill>
            <a:srgbClr val="E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76338" y="4321860"/>
            <a:ext cx="1085850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8C5A46"/>
                </a:solidFill>
                <a:latin typeface="微软雅黑"/>
                <a:ea typeface="微软雅黑"/>
                <a:cs typeface="微软雅黑"/>
              </a:rPr>
              <a:t>改完怎么办？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6338" y="4683801"/>
            <a:ext cx="1990725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503C32"/>
                </a:solidFill>
                <a:latin typeface="微软雅黑"/>
                <a:ea typeface="微软雅黑"/>
                <a:cs typeface="微软雅黑"/>
              </a:rPr>
              <a:t>整篇重合成要等</a:t>
            </a:r>
            <a:r>
              <a:rPr sz="1900" b="1" i="0">
                <a:solidFill>
                  <a:srgbClr val="8C5A46"/>
                </a:solidFill>
                <a:latin typeface="微软雅黑"/>
                <a:ea typeface="微软雅黑"/>
                <a:cs typeface="微软雅黑"/>
              </a:rPr>
              <a:t>半分钟</a:t>
            </a:r>
            <a:r>
              <a:rPr sz="1900" b="0" i="0">
                <a:solidFill>
                  <a:srgbClr val="503C32"/>
                </a:solidFill>
                <a:latin typeface="微软雅黑"/>
                <a:ea typeface="微软雅黑"/>
                <a:cs typeface="微软雅黑"/>
              </a:rPr>
              <a:t>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6338" y="5083841"/>
            <a:ext cx="1990725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503C32"/>
                </a:solidFill>
                <a:latin typeface="微软雅黑"/>
                <a:ea typeface="微软雅黑"/>
                <a:cs typeface="微软雅黑"/>
              </a:rPr>
              <a:t>拖一个点等一次，没法用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4737" y="4971925"/>
            <a:ext cx="62865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8C5A46"/>
                </a:solidFill>
                <a:latin typeface="Arial"/>
                <a:ea typeface="Arial"/>
                <a:cs typeface="Arial"/>
              </a:rPr>
              <a:t>30s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451" y="4905252"/>
            <a:ext cx="476238" cy="0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353016" y="4848103"/>
            <a:ext cx="66673" cy="57149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353016" y="4905252"/>
            <a:ext cx="66673" cy="57148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600659" y="4095647"/>
            <a:ext cx="4571885" cy="1619209"/>
          </a:xfrm>
          <a:prstGeom prst="rect">
            <a:avLst/>
          </a:prstGeom>
          <a:solidFill>
            <a:srgbClr val="E0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7848" y="4321860"/>
            <a:ext cx="2651283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解法：段落级缓存 + 增量重合成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7848" y="4683801"/>
            <a:ext cx="1990725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拖哪一段，只重算那一段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7848" y="5083841"/>
            <a:ext cx="904875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一秒出声。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5317" y="4971925"/>
            <a:ext cx="47625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4C7A5A"/>
                </a:solidFill>
                <a:latin typeface="Arial"/>
                <a:ea typeface="Arial"/>
                <a:cs typeface="Arial"/>
              </a:rPr>
              <a:t>1s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22490" y="616728"/>
            <a:ext cx="550068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78827D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149" y="802461"/>
            <a:ext cx="6220301" cy="4229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亮点二 · 音色三合一，成本压到接近零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149" y="1314417"/>
            <a:ext cx="1019149" cy="38099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149" y="1759699"/>
            <a:ext cx="128587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三种获取音色的方式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9149" y="2171645"/>
            <a:ext cx="3047923" cy="1333466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6793" y="2478819"/>
            <a:ext cx="800100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声音克隆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793" y="2888384"/>
            <a:ext cx="178117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五秒录音，克隆本人声音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2320" y="2838379"/>
            <a:ext cx="476239" cy="0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1885" y="2781230"/>
            <a:ext cx="66674" cy="57149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571885" y="2838379"/>
            <a:ext cx="66674" cy="57148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29054" y="2171645"/>
            <a:ext cx="3047923" cy="1333466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6698" y="2478819"/>
            <a:ext cx="730091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AI 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6698" y="2888384"/>
            <a:ext cx="178117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一句话描述，生成新音色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72225" y="2838379"/>
            <a:ext cx="476238" cy="0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81790" y="2781230"/>
            <a:ext cx="66673" cy="57149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838379"/>
            <a:ext cx="66673" cy="57148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638959" y="2171645"/>
            <a:ext cx="2533586" cy="1333466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6602" y="2478819"/>
            <a:ext cx="476250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方言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6602" y="2888384"/>
            <a:ext cx="129540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内置八种方言可选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9149" y="3867053"/>
            <a:ext cx="10153396" cy="0"/>
          </a:xfrm>
          <a:prstGeom prst="line">
            <a:avLst/>
          </a:prstGeom>
          <a:ln w="12700">
            <a:solidFill>
              <a:srgbClr val="C8D2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19149" y="4159939"/>
            <a:ext cx="10001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一笔真实成本账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149" y="4640940"/>
            <a:ext cx="1198244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C5A46"/>
                </a:solidFill>
                <a:latin typeface="微软雅黑"/>
                <a:ea typeface="微软雅黑"/>
                <a:cs typeface="微软雅黑"/>
              </a:rPr>
              <a:t>原本走 MiniMax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149" y="5086222"/>
            <a:ext cx="288036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E63946"/>
                </a:solidFill>
                <a:latin typeface="微软雅黑"/>
                <a:ea typeface="微软雅黑"/>
                <a:cs typeface="微软雅黑"/>
              </a:rPr>
              <a:t>20 多元 / 个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90895" y="5095747"/>
            <a:ext cx="666733" cy="0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90955" y="5038599"/>
            <a:ext cx="66673" cy="57148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790955" y="5095747"/>
            <a:ext cx="66673" cy="57149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10044" y="4640940"/>
            <a:ext cx="1967388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换 CosyVoice + 设计缓存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0044" y="4988594"/>
            <a:ext cx="1990725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创建免费；同描述第二次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0044" y="5293386"/>
            <a:ext cx="1809750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直接复用，不重复生成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34126" y="5095747"/>
            <a:ext cx="666733" cy="0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34186" y="5038599"/>
            <a:ext cx="66673" cy="57148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34186" y="5095747"/>
            <a:ext cx="66673" cy="57149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953276" y="4640940"/>
            <a:ext cx="64770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实际成本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3276" y="5086222"/>
            <a:ext cx="13716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接近零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22490" y="616728"/>
            <a:ext cx="550068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78827D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149" y="802461"/>
            <a:ext cx="4458176" cy="4229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亮点三 · 跨页书架与移动端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149" y="1314417"/>
            <a:ext cx="1019149" cy="38099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149" y="1759699"/>
            <a:ext cx="57150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跨页书架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49" y="2226413"/>
            <a:ext cx="2895600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工作台做的书，睡前故事页</a:t>
            </a:r>
            <a:r>
              <a:rPr sz="19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立刻能听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19149" y="2666933"/>
            <a:ext cx="4695708" cy="0"/>
          </a:xfrm>
          <a:prstGeom prst="line">
            <a:avLst/>
          </a:prstGeom>
          <a:ln w="12700">
            <a:solidFill>
              <a:srgbClr val="D2DA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19149" y="3007443"/>
            <a:ext cx="1628775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收听进度</a:t>
            </a:r>
            <a:r>
              <a:rPr sz="19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跨设备同步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19149" y="3447963"/>
            <a:ext cx="4695708" cy="0"/>
          </a:xfrm>
          <a:prstGeom prst="line">
            <a:avLst/>
          </a:prstGeom>
          <a:ln w="12700">
            <a:solidFill>
              <a:srgbClr val="D2DA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9149" y="3788474"/>
            <a:ext cx="2533650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音频一键下载，按钮走状态机：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49" y="4169464"/>
            <a:ext cx="1864042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下载 → 百分比 → 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659" y="1759699"/>
            <a:ext cx="8572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移动端踩的坑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0659" y="2171645"/>
            <a:ext cx="4571885" cy="1428714"/>
          </a:xfrm>
          <a:prstGeom prst="rect">
            <a:avLst/>
          </a:prstGeom>
          <a:solidFill>
            <a:srgbClr val="E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7848" y="2431195"/>
            <a:ext cx="47625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8C5A46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7848" y="2778849"/>
            <a:ext cx="2171700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503C32"/>
                </a:solidFill>
                <a:latin typeface="微软雅黑"/>
                <a:ea typeface="微软雅黑"/>
                <a:cs typeface="微软雅黑"/>
              </a:rPr>
              <a:t>底部播放栏被全面屏手势条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7848" y="3140790"/>
            <a:ext cx="723900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8C5A46"/>
                </a:solidFill>
                <a:latin typeface="微软雅黑"/>
                <a:ea typeface="微软雅黑"/>
                <a:cs typeface="微软雅黑"/>
              </a:rPr>
              <a:t>切掉一半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86602" y="3771805"/>
            <a:ext cx="0" cy="380991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29454" y="4086122"/>
            <a:ext cx="57148" cy="66674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886602" y="4086122"/>
            <a:ext cx="57149" cy="66674"/>
          </a:xfrm>
          <a:prstGeom prst="line">
            <a:avLst/>
          </a:prstGeom>
          <a:ln w="25400">
            <a:solidFill>
              <a:srgbClr val="4C7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00659" y="4305192"/>
            <a:ext cx="4571885" cy="1428714"/>
          </a:xfrm>
          <a:prstGeom prst="rect">
            <a:avLst/>
          </a:prstGeom>
          <a:solidFill>
            <a:srgbClr val="E0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7848" y="4564742"/>
            <a:ext cx="47625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解法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7848" y="4912395"/>
            <a:ext cx="2099310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靠 </a:t>
            </a:r>
            <a:r>
              <a:rPr sz="19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safe-area 适配</a:t>
            </a:r>
            <a:r>
              <a:rPr sz="19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 解决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7848" y="5274336"/>
            <a:ext cx="1447800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真机截图才发现的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22490" y="616728"/>
            <a:ext cx="550068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78827D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149" y="802461"/>
            <a:ext cx="5867876" cy="4229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AI 协作：用在哪、错在哪、怎么合作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149" y="1314417"/>
            <a:ext cx="1019149" cy="38099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95847" y="1771605"/>
            <a:ext cx="0" cy="4495688"/>
          </a:xfrm>
          <a:prstGeom prst="line">
            <a:avLst/>
          </a:prstGeom>
          <a:ln w="12700">
            <a:solidFill>
              <a:srgbClr val="C8D2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9149" y="1664452"/>
            <a:ext cx="2328862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AI 只干两件事 · 其余全是工程实现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49" y="1993056"/>
            <a:ext cx="4331493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情感分析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读全文，输出分段、情绪、强度、重音词的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49" y="2278799"/>
            <a:ext cx="372427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智能音色生成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一句话，扩写成配音导演式音色描述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49" y="2712175"/>
            <a:ext cx="10001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C5A46"/>
                </a:solidFill>
                <a:latin typeface="微软雅黑"/>
                <a:ea typeface="微软雅黑"/>
                <a:cs typeface="微软雅黑"/>
              </a:rPr>
              <a:t>三个真踩到的坑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49" y="3021730"/>
            <a:ext cx="4185761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① JSON 会不合法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带引号对话塞进字符串，十次炸两三次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49" y="3288424"/>
            <a:ext cx="365950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三层防御：强约束 → 整批重试 → 绕开 JSON 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49" y="3631315"/>
            <a:ext cx="411289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② 数字算错十倍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它回「四毛钱一万字」，实际 </a:t>
            </a:r>
            <a:r>
              <a:rPr sz="1700" b="1" i="0">
                <a:solidFill>
                  <a:srgbClr val="8C5A46"/>
                </a:solidFill>
                <a:latin typeface="微软雅黑"/>
                <a:ea typeface="微软雅黑"/>
                <a:cs typeface="微软雅黑"/>
              </a:rPr>
              <a:t>4.32 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49" y="3974206"/>
            <a:ext cx="3578542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③ 会误判接口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说是账号问题，</a:t>
            </a:r>
            <a:r>
              <a:rPr sz="1700" b="1" i="0">
                <a:solidFill>
                  <a:srgbClr val="8C5A46"/>
                </a:solidFill>
                <a:latin typeface="微软雅黑"/>
                <a:ea typeface="微软雅黑"/>
                <a:cs typeface="微软雅黑"/>
              </a:rPr>
              <a:t>不是账号，是参数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9149" y="4476638"/>
            <a:ext cx="4952876" cy="761980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6338" y="4679039"/>
            <a:ext cx="229933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所以默认把 AI 的输出当草稿，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338" y="4945732"/>
            <a:ext cx="80962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不当答案。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016" y="1664452"/>
            <a:ext cx="57150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能力边界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3016" y="1993056"/>
            <a:ext cx="3861911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可交 AI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结构化标注、文案扩写 —— 错了容易看出来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016" y="2278799"/>
            <a:ext cx="307657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C5A46"/>
                </a:solidFill>
                <a:latin typeface="微软雅黑"/>
                <a:ea typeface="微软雅黑"/>
                <a:cs typeface="微软雅黑"/>
              </a:rPr>
              <a:t>必须人工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成本数字、接口契约、最终听感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3016" y="2564542"/>
            <a:ext cx="310896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硬线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故事正文禁止 AI 写，全用公版原文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53016" y="2914577"/>
            <a:ext cx="4819529" cy="0"/>
          </a:xfrm>
          <a:prstGeom prst="line">
            <a:avLst/>
          </a:prstGeom>
          <a:ln w="12700">
            <a:solidFill>
              <a:srgbClr val="D2DA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53016" y="3093166"/>
            <a:ext cx="57150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四步闭环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3016" y="3421770"/>
            <a:ext cx="317373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我拆需求 → AI 出代码 → 我评审 → 再迭代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3016" y="3726563"/>
            <a:ext cx="401574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每版必须实测 —— </a:t>
            </a:r>
            <a:r>
              <a:rPr sz="17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十六条 Playwright 断言全绿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才敢发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53016" y="4076598"/>
            <a:ext cx="4819529" cy="0"/>
          </a:xfrm>
          <a:prstGeom prst="line">
            <a:avLst/>
          </a:prstGeom>
          <a:ln w="12700">
            <a:solidFill>
              <a:srgbClr val="D2DA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53016" y="4255187"/>
            <a:ext cx="57150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三轮迭代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3016" y="4564742"/>
            <a:ext cx="226695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第一轮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跑通链路，能用但粗糙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3016" y="4850484"/>
            <a:ext cx="210502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第二轮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补移动端和离线下载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3016" y="5136227"/>
            <a:ext cx="291465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第三轮</a:t>
            </a:r>
            <a:r>
              <a:rPr sz="1700" b="0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　成本治理：换免费通道、上缓存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3016" y="5581510"/>
            <a:ext cx="4819529" cy="685782"/>
          </a:xfrm>
          <a:prstGeom prst="rect">
            <a:avLst/>
          </a:prstGeom>
          <a:solidFill>
            <a:srgbClr val="E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0204" y="5822010"/>
            <a:ext cx="310896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三轮的改进点，没有一个是 AI 主动提的。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22490" y="616728"/>
            <a:ext cx="550068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78827D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9149" y="1904952"/>
            <a:ext cx="76198" cy="3047923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76338" y="2285942"/>
            <a:ext cx="520065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AI 把写代码的时间省下来了，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338" y="2857428"/>
            <a:ext cx="61341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但把「判断对错」完整地留给了我——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6338" y="3619409"/>
            <a:ext cx="1809704" cy="38099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6338" y="4119459"/>
            <a:ext cx="4762500" cy="5715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2E3238"/>
                </a:solidFill>
                <a:latin typeface="微软雅黑"/>
                <a:ea typeface="微软雅黑"/>
                <a:cs typeface="微软雅黑"/>
              </a:rPr>
              <a:t>而后者，才是这个项目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338" y="4786192"/>
            <a:ext cx="3333750" cy="5715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4C7A5A"/>
                </a:solidFill>
                <a:latin typeface="微软雅黑"/>
                <a:ea typeface="微软雅黑"/>
                <a:cs typeface="微软雅黑"/>
              </a:rPr>
              <a:t>真正的工程量。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338" y="5845822"/>
            <a:ext cx="3492817" cy="2171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声卷 · 有声读物工作台 + 睡前故事播放器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338" y="6145852"/>
            <a:ext cx="3740467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78827D"/>
                </a:solidFill>
                <a:latin typeface="微软雅黑"/>
                <a:ea typeface="微软雅黑"/>
                <a:cs typeface="微软雅黑"/>
              </a:rPr>
              <a:t>CloudBase 云托管 + PG · 全云 API，本地零部署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